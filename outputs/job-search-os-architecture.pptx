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34070ea554b0b" /><Relationship Type="http://schemas.openxmlformats.org/officeDocument/2006/relationships/extended-properties" Target="/docProps/app.xml" Id="R66d787cc3c8d4928" /><Relationship Type="http://schemas.openxmlformats.org/officeDocument/2006/relationships/officeDocument" Target="/ppt/presentation.xml" Id="R030e85b360bd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51775a85b64bef"/>
  </p:sldMasterIdLst>
  <p:notesMasterIdLst>
    <p:notesMasterId xmlns:r="http://schemas.openxmlformats.org/officeDocument/2006/relationships" r:id="R505758ed2bb6499d"/>
  </p:notesMasterIdLst>
  <p:sldIdLst>
    <p:sldId xmlns:r="http://schemas.openxmlformats.org/officeDocument/2006/relationships" id="256" r:id="R605e8860fdc843b4"/>
    <p:sldId xmlns:r="http://schemas.openxmlformats.org/officeDocument/2006/relationships" id="257" r:id="R560a575622044f4b"/>
    <p:sldId xmlns:r="http://schemas.openxmlformats.org/officeDocument/2006/relationships" id="258" r:id="Rea0dfe7ee4074e61"/>
    <p:sldId xmlns:r="http://schemas.openxmlformats.org/officeDocument/2006/relationships" id="259" r:id="R2cc14ba4ed304da2"/>
    <p:sldId xmlns:r="http://schemas.openxmlformats.org/officeDocument/2006/relationships" id="260" r:id="R23921100b23a4559"/>
    <p:sldId xmlns:r="http://schemas.openxmlformats.org/officeDocument/2006/relationships" id="261" r:id="Rb16663a593db4bf9"/>
    <p:sldId xmlns:r="http://schemas.openxmlformats.org/officeDocument/2006/relationships" id="262" r:id="R545d523fe129462f"/>
    <p:sldId xmlns:r="http://schemas.openxmlformats.org/officeDocument/2006/relationships" id="263" r:id="R1ab94ffea9394112"/>
    <p:sldId xmlns:r="http://schemas.openxmlformats.org/officeDocument/2006/relationships" id="264" r:id="Ra04a608771f548b4"/>
    <p:sldId xmlns:r="http://schemas.openxmlformats.org/officeDocument/2006/relationships" id="265" r:id="R44309ae1e5364bad"/>
    <p:sldId xmlns:r="http://schemas.openxmlformats.org/officeDocument/2006/relationships" id="266" r:id="Rcf1bf6466c6145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8b9068cf754f4a" /><Relationship Type="http://schemas.openxmlformats.org/officeDocument/2006/relationships/slideMaster" Target="/ppt/slideMasters/slideMaster1.xml" Id="Rbc51775a85b64bef" /><Relationship Type="http://schemas.openxmlformats.org/officeDocument/2006/relationships/notesMaster" Target="/ppt/notesMasters/notesMaster1.xml" Id="R505758ed2bb6499d" /><Relationship Type="http://schemas.openxmlformats.org/officeDocument/2006/relationships/presProps" Target="/ppt/presProps.xml" Id="Rdadf72c78b0042ca" /><Relationship Type="http://schemas.openxmlformats.org/officeDocument/2006/relationships/tableStyles" Target="/ppt/tableStyles.xml" Id="R9f615f020c8145a4" /><Relationship Type="http://schemas.openxmlformats.org/officeDocument/2006/relationships/slide" Target="/ppt/slides/slide1.xml" Id="R605e8860fdc843b4" /><Relationship Type="http://schemas.openxmlformats.org/officeDocument/2006/relationships/slide" Target="/ppt/slides/slide2.xml" Id="R560a575622044f4b" /><Relationship Type="http://schemas.openxmlformats.org/officeDocument/2006/relationships/slide" Target="/ppt/slides/slide3.xml" Id="Rea0dfe7ee4074e61" /><Relationship Type="http://schemas.openxmlformats.org/officeDocument/2006/relationships/slide" Target="/ppt/slides/slide4.xml" Id="R2cc14ba4ed304da2" /><Relationship Type="http://schemas.openxmlformats.org/officeDocument/2006/relationships/slide" Target="/ppt/slides/slide5.xml" Id="R23921100b23a4559" /><Relationship Type="http://schemas.openxmlformats.org/officeDocument/2006/relationships/slide" Target="/ppt/slides/slide6.xml" Id="Rb16663a593db4bf9" /><Relationship Type="http://schemas.openxmlformats.org/officeDocument/2006/relationships/slide" Target="/ppt/slides/slide7.xml" Id="R545d523fe129462f" /><Relationship Type="http://schemas.openxmlformats.org/officeDocument/2006/relationships/slide" Target="/ppt/slides/slide8.xml" Id="R1ab94ffea9394112" /><Relationship Type="http://schemas.openxmlformats.org/officeDocument/2006/relationships/slide" Target="/ppt/slides/slide9.xml" Id="Ra04a608771f548b4" /><Relationship Type="http://schemas.openxmlformats.org/officeDocument/2006/relationships/slide" Target="/ppt/slides/slide10.xml" Id="R44309ae1e5364bad" /><Relationship Type="http://schemas.openxmlformats.org/officeDocument/2006/relationships/slide" Target="/ppt/slides/slide11.xml" Id="Rcf1bf6466c6145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c938a250ff41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38b46fc0647c1" /><Relationship Type="http://schemas.openxmlformats.org/officeDocument/2006/relationships/notesMaster" Target="/ppt/notesMasters/notesMaster1.xml" Id="Rab4b5d273c9340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9b14129d0c4e34" /><Relationship Type="http://schemas.openxmlformats.org/officeDocument/2006/relationships/notesMaster" Target="/ppt/notesMasters/notesMaster1.xml" Id="R3e90409633584f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0f492f3364967" /><Relationship Type="http://schemas.openxmlformats.org/officeDocument/2006/relationships/notesMaster" Target="/ppt/notesMasters/notesMaster1.xml" Id="R87366d0afbb5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b0c7e27cad4d8f" /><Relationship Type="http://schemas.openxmlformats.org/officeDocument/2006/relationships/notesMaster" Target="/ppt/notesMasters/notesMaster1.xml" Id="R591f13c9eb2443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933d74ff53478b" /><Relationship Type="http://schemas.openxmlformats.org/officeDocument/2006/relationships/notesMaster" Target="/ppt/notesMasters/notesMaster1.xml" Id="R61024d83c94947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191493d3034222" /><Relationship Type="http://schemas.openxmlformats.org/officeDocument/2006/relationships/notesMaster" Target="/ppt/notesMasters/notesMaster1.xml" Id="Rd62eff39a6d646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0a54e695584e10" /><Relationship Type="http://schemas.openxmlformats.org/officeDocument/2006/relationships/notesMaster" Target="/ppt/notesMasters/notesMaster1.xml" Id="Re19554f1656d46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dc0db1adc84d12" /><Relationship Type="http://schemas.openxmlformats.org/officeDocument/2006/relationships/notesMaster" Target="/ppt/notesMasters/notesMaster1.xml" Id="Rfbc2d1b780284e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59dcb23ff6412a" /><Relationship Type="http://schemas.openxmlformats.org/officeDocument/2006/relationships/notesMaster" Target="/ppt/notesMasters/notesMaster1.xml" Id="R83c4f7e2a45145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d7b21a192c4a03" /><Relationship Type="http://schemas.openxmlformats.org/officeDocument/2006/relationships/notesMaster" Target="/ppt/notesMasters/notesMaster1.xml" Id="Re7e1c8d496ea41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4026af3a6f4a24" /><Relationship Type="http://schemas.openxmlformats.org/officeDocument/2006/relationships/notesMaster" Target="/ppt/notesMasters/notesMaster1.xml" Id="R3140d30fd58044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claim: the architecture is not an agent free-for-all.</a:t>
            </a:r>
          </a:p>
          <a:p xmlns:a="http://schemas.openxmlformats.org/drawingml/2006/main">
            <a:r>
              <a:t>The system is designed around human judgment, durable state, and bounded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establishes the product stance before the implementation map.</a:t>
            </a:r>
          </a:p>
          <a:p xmlns:a="http://schemas.openxmlformats.org/drawingml/2006/main">
            <a:r>
              <a:t>Keep the language precise: agents are execution helpers, not autonomous owners of external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first of three editable diagrams.</a:t>
            </a:r>
          </a:p>
          <a:p xmlns:a="http://schemas.openxmlformats.org/drawingml/2006/main">
            <a:r>
              <a:t>The main read is left-to-right: human intent, API control, agent services, durable memory, external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metric-heavy because the audience is technical.</a:t>
            </a:r>
          </a:p>
          <a:p xmlns:a="http://schemas.openxmlformats.org/drawingml/2006/main">
            <a:r>
              <a:t>Do not imply live private data was read; these counts come from static repo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point: runtime separation is a design strength.</a:t>
            </a:r>
          </a:p>
          <a:p xmlns:a="http://schemas.openxmlformats.org/drawingml/2006/main">
            <a:r>
              <a:t>AgentRun/Event is the shared spine across runtimes.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follows the core daily workflow.</a:t>
            </a:r>
          </a:p>
          <a:p xmlns:a="http://schemas.openxmlformats.org/drawingml/2006/main">
            <a:r>
              <a:t>The point is throughput plus gates, not fully autonomous application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Jolene is the best way to explain the product's assistant architecture.</a:t>
            </a:r>
          </a:p>
          <a:p xmlns:a="http://schemas.openxmlformats.org/drawingml/2006/main">
            <a:r>
              <a:t>Slack is a transport and command room, not a separate runtime or source of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why these are graph-backed: long-running, resumable, repairable state.</a:t>
            </a:r>
          </a:p>
          <a:p xmlns:a="http://schemas.openxmlformats.org/drawingml/2006/main">
            <a:r>
              <a:t>Also call out the manual final submit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quality loops are local and review-oriented.</a:t>
            </a:r>
          </a:p>
          <a:p xmlns:a="http://schemas.openxmlformats.org/drawingml/2006/main">
            <a:r>
              <a:t>High-risk prompt, scoring-policy, source, and workflow changes remain review-only.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safety map.</a:t>
            </a:r>
          </a:p>
          <a:p xmlns:a="http://schemas.openxmlformats.org/drawingml/2006/main">
            <a:r>
              <a:t>It should be clear which integrations are active but bounded.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maintainability rather than feature scope.</a:t>
            </a:r>
          </a:p>
          <a:p xmlns:a="http://schemas.openxmlformats.org/drawingml/2006/main">
            <a:r>
              <a:t>The deck should leave reviewers with the core operating model and current architecture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95ffec1c145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c282bafc02414a" /><Relationship Type="http://schemas.openxmlformats.org/officeDocument/2006/relationships/slideLayout" Target="/ppt/slideLayouts/slideLayout1.xml" Id="R3a1714412b0949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1714412b0949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8b809f67843aa" /><Relationship Type="http://schemas.openxmlformats.org/officeDocument/2006/relationships/notesSlide" Target="/ppt/notesSlides/notesSlide1.xml" Id="R15cfa5287c884f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ca028cf7b464d" /><Relationship Type="http://schemas.openxmlformats.org/officeDocument/2006/relationships/notesSlide" Target="/ppt/notesSlides/notesSlide2.xml" Id="R6dc14cae366247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ec450b50a4d17" /><Relationship Type="http://schemas.openxmlformats.org/officeDocument/2006/relationships/notesSlide" Target="/ppt/notesSlides/notesSlide3.xml" Id="R44b5c8cea8504e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c406283af4588" /><Relationship Type="http://schemas.openxmlformats.org/officeDocument/2006/relationships/notesSlide" Target="/ppt/notesSlides/notesSlide4.xml" Id="Rb0455486948d4e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a749d7399489f" /><Relationship Type="http://schemas.openxmlformats.org/officeDocument/2006/relationships/notesSlide" Target="/ppt/notesSlides/notesSlide5.xml" Id="R3235281dcbf44e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6706c9e2146c9" /><Relationship Type="http://schemas.openxmlformats.org/officeDocument/2006/relationships/notesSlide" Target="/ppt/notesSlides/notesSlide6.xml" Id="Rd5fb87cdc12046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387df7e7f46ef" /><Relationship Type="http://schemas.openxmlformats.org/officeDocument/2006/relationships/notesSlide" Target="/ppt/notesSlides/notesSlide7.xml" Id="R3a51047475e64c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4ebcb7ba743f3" /><Relationship Type="http://schemas.openxmlformats.org/officeDocument/2006/relationships/notesSlide" Target="/ppt/notesSlides/notesSlide8.xml" Id="R2f4fc790b7254e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afe515e6d4d18" /><Relationship Type="http://schemas.openxmlformats.org/officeDocument/2006/relationships/notesSlide" Target="/ppt/notesSlides/notesSlide9.xml" Id="R8b37f9058bc148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94cba16134d1a" /><Relationship Type="http://schemas.openxmlformats.org/officeDocument/2006/relationships/notesSlide" Target="/ppt/notesSlides/notesSlide10.xml" Id="R8dce33f8428543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b2e16d02a4260" /><Relationship Type="http://schemas.openxmlformats.org/officeDocument/2006/relationships/notesSlide" Target="/ppt/notesSlides/notesSlide11.xml" Id="Rebac88b93be340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E636BA-80B3-48C3-8017-3CBAF4E9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C9290-746D-4C78-BAAF-B93B451C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8858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Job Search OS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E99F6-BE52-46AD-BD74-63C33AA0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Human-directed job-search operations with agent execution, durable memory, observability, and hard external-action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B6BAB-D1B1-47B2-8820-F6D0FB0D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Technical architecture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2D98F-0A7F-4693-BE28-C77867C8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Sources: repo docs,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33E68-DA80-4FFD-BFF7-7BDF267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14450"/>
            <a:ext cx="2476500" cy="3429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9E7E2-CF94-4898-8E71-975213C5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38</a:t>
            </a:r>
          </a:p>
          <a:p xmlns:a="http://schemas.openxmlformats.org/drawingml/2006/main"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app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824CD-7F60-4869-8735-6BD4CDD5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338CA"/>
                </a:solidFill>
              </a:defRPr>
            </a:pPr>
            <a:r>
              <a:rPr sz="2250" b="1">
                <a:solidFill>
                  <a:srgbClr val="4338CA"/>
                </a:solidFill>
              </a:rPr>
              <a:t>171</a:t>
            </a:r>
          </a:p>
          <a:p xmlns:a="http://schemas.openxmlformats.org/drawingml/2006/main">
            <a:pPr algn="ctr">
              <a:defRPr sz="2250" b="1">
                <a:solidFill>
                  <a:srgbClr val="4338CA"/>
                </a:solidFill>
              </a:defRPr>
            </a:pPr>
            <a:r>
              <a:rPr sz="2250" b="1">
                <a:solidFill>
                  <a:srgbClr val="4338CA"/>
                </a:solidFill>
              </a:rPr>
              <a:t>API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B769D-8DB4-4243-8788-EA558D5D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40</a:t>
            </a:r>
          </a:p>
          <a:p xmlns:a="http://schemas.openxmlformats.org/drawingml/2006/main">
            <a:pPr algn="ctr"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agent types</a:t>
            </a:r>
          </a:p>
        </p:txBody>
      </p:sp>
    </p:spTree>
    <p:extLst>
      <p:ext uri="{BB962C8B-B14F-4D97-AF65-F5344CB8AC3E}">
        <p14:creationId xmlns:p14="http://schemas.microsoft.com/office/powerpoint/2010/main" val="985782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7FF5C-3CB7-4EAA-8CFA-F67D51D4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9F8C0-7EB5-48E0-9058-2FDC5B1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Architecture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7B42B-9D2F-40FF-95E6-B1F7C5E6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 protected single-user production app: agents accelerate work, but humans keep authority over high-impact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69735-7C96-4A95-88AF-65769F8B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88BC1-B2CA-46DB-BAC1-9C574BB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34BB7-0F59-4FCB-8094-FC5E6309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37E1D-519E-47B8-997F-402C8E81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D99BA-F6D9-4A46-8F8A-D20F1D25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3366B-FF58-4F51-AA46-02E4CAC4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Protected operating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A2854-E4E0-4F57-9E5A-E4294B59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800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The app treats job search as a daily operating loop, not a generic chatbot. Route surfaces, APIs, and agents all write back to durable app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7EE99-EFC2-468F-8847-859E828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A87A-5309-419F-B2C1-98987F0C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6793E-CB55-46FA-88B5-9C8689D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62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Agent work is bounded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6CFEC-0353-4AFD-86A1-962545EA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05100"/>
            <a:ext cx="2800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Agents research, score, draft, diagnose, and propose. Risky external actions remain manual or explicitly approval-gated.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86B66-A2FB-4A0A-AFF5-21D9A8CA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2221F-8D2D-4CEF-AB92-61DFDDAA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EE357-5788-4162-AB6D-F01B932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Every run leaves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67B20-2BC7-4FD5-BE49-144E852E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800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AgentRun, AgentRunEvent, workflow state, quality examples, and plans preserve the operational record.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557EB-A96D-458F-9921-0A8AFA00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00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2A43"/>
                </a:solidFill>
              </a:defRPr>
            </a:pPr>
            <a:r>
              <a:rPr sz="1875" b="1">
                <a:solidFill>
                  <a:srgbClr val="0F2A43"/>
                </a:solidFill>
              </a:rPr>
              <a:t>Design invariant: reduce physical work without removing judgment.</a:t>
            </a:r>
          </a:p>
        </p:txBody>
      </p:sp>
    </p:spTree>
    <p:extLst>
      <p:ext uri="{BB962C8B-B14F-4D97-AF65-F5344CB8AC3E}">
        <p14:creationId xmlns:p14="http://schemas.microsoft.com/office/powerpoint/2010/main" val="763805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28AD8-EE71-4588-B048-4B9D0287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9921B-1E07-45B1-95BE-2C714156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System topology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055B4-6041-426F-AE6E-1DDDD72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The architecture flows from human-facing surfaces through a Next.js API control plane into governed agents and durable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FB14A-0D95-4578-9F07-1BDCE10E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6E469-1236-4F02-80FA-A2804B97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C9621-A1E5-4F09-AD6D-C1B57FDC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49B65-09AB-43AA-999B-F37887C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198F1-4F73-4992-9481-0BF7F5DC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3A144-DE2B-4574-AD65-6B2FCC86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UI surfaces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3B18-D1A1-4C2C-A45C-32024F23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562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Dashboard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Apply Sprint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Jobs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Jolene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F67B8-D62F-4B43-AEF9-0665083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2000250" cy="20383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38999-A399-4143-8FE9-BFB74F0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8BD9-7D0B-461D-AC8B-706436B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API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D972E-C0C4-49D0-9D49-67A5578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657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Next.js route handlers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Auth/secrets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Approval endpoints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Status streams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5D1E5-5E7A-4068-852E-8B7CAEEE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2286000" cy="2419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26B76-AB55-45D8-9B83-479DE119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2EE6F-FFDB-481A-B7EF-7D54E2FC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574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Agent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10793-91B8-4D88-925B-54CEF9E4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943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Jolene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Search and scoring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Email Ops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Content team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System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753CC-138B-4F62-B463-982D3254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2000250" cy="20383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057FB-FB72-4138-B1E7-B6FFB79A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53CE7-2700-48EC-9C54-0C2FA9F9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Durable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2EA70-BC29-4C7A-BB61-330FB05F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1657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Prisma/Postgres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AgentRun/Event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Conversations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Materials</a:t>
            </a:r>
          </a:p>
          <a:p xmlns:a="http://schemas.openxmlformats.org/drawingml/2006/main">
            <a:pPr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1F4C9-0AC8-4ED3-BD1A-A216C333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3143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45F61-4C03-4642-8552-4AD7F4B9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53C62-1A65-4D5D-BF56-B09F6C90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815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External gates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B133A-1729-495D-A993-359FC279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244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Slack, email, LinkedIn, browser, calendar, OpenAI helpers</a:t>
            </a:r>
          </a:p>
        </p:txBody>
      </p:sp>
      <p:cxnSp>
        <p:nvCxnSpPr>
          <p:cNvPr id="6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5745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</a:ln>
        </p:spPr>
      </p:cxnSp>
      <p:cxnSp>
        <p:nvCxnSpPr>
          <p:cNvPr id="6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93395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</a:ln>
        </p:spPr>
      </p:cxnSp>
      <p:cxnSp>
        <p:nvCxnSpPr>
          <p:cNvPr id="6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696200" y="3095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</a:ln>
        </p:spPr>
      </p:cxnSp>
      <p:cxnSp>
        <p:nvCxnSpPr>
          <p:cNvPr id="65" name=""/>
          <p:cNvCxnSpPr>
            <a:stCxn xmlns:a="http://schemas.openxmlformats.org/drawingml/2006/main" id="1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933700" y="3095625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</a:ln>
        </p:spPr>
      </p:cxnSp>
      <p:cxnSp>
        <p:nvCxnSpPr>
          <p:cNvPr id="66" name=""/>
          <p:cNvCxnSpPr>
            <a:stCxn xmlns:a="http://schemas.openxmlformats.org/drawingml/2006/main" id="15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553200" y="4305300"/>
            <a:ext cx="111442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04F9D-D035-42D1-9191-A53098F5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146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</a:defRPr>
            </a:pPr>
            <a:r>
              <a:rPr sz="202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11F27-C43A-45EB-9110-B23633F5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</a:defRPr>
            </a:pPr>
            <a:r>
              <a:rPr sz="202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7E1E56-4B15-4EED-9339-68632153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</a:defRPr>
            </a:pPr>
            <a:r>
              <a:rPr sz="202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4F4B7D-8F49-420D-A9DA-F0E5465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245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All external writes are either blocked, draft-only, or explicitly approved.</a:t>
            </a:r>
          </a:p>
        </p:txBody>
      </p:sp>
    </p:spTree>
    <p:extLst>
      <p:ext uri="{BB962C8B-B14F-4D97-AF65-F5344CB8AC3E}">
        <p14:creationId xmlns:p14="http://schemas.microsoft.com/office/powerpoint/2010/main" val="317273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08223-90BA-4A02-8153-368B44C0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A026C-90BE-4351-9FD4-45B949F4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Durable memory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898B-9976-4376-AAEF-5554EBD4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Prisma/Postgres is the app’s source of truth; agents read and write structured records rather than ephemeral chat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87F69-65C4-49D3-B65A-4139C73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563E4-1689-458A-9E88-02A4504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53896-8769-47A2-A4C9-92DA73EC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B4ECD-EC8D-4531-A850-A8D654E3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38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F18EA-AFE0-46CF-9852-21E39AD6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59669"/>
                </a:solidFill>
              </a:defRPr>
            </a:pPr>
            <a:r>
              <a:rPr sz="2250" b="1">
                <a:solidFill>
                  <a:srgbClr val="059669"/>
                </a:solidFill>
              </a:rPr>
              <a:t>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ED8DC-66E3-4696-BFA0-62B7DB7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Prisma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E328A-7270-4C03-9FFE-3C996DE0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1638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BD1D6-C466-4403-8EC8-34199642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91B2"/>
                </a:solidFill>
              </a:defRPr>
            </a:pPr>
            <a:r>
              <a:rPr sz="2250" b="1">
                <a:solidFill>
                  <a:srgbClr val="0891B2"/>
                </a:solidFill>
              </a:rP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296AC-7BA4-428E-B316-582E9DA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987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Prisma enums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812BB-76BB-43F2-ADCC-1EA87FDA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1638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1E89D-CC55-4BAF-9655-9A03F89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CA52D-81A2-411B-A577-7162528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987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Agent 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719AD-C4B0-420C-A087-94D1A93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1638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A32C9-BDDB-47F3-B8FD-E1A4F980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56085-68CC-41C2-B299-93FD96B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987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Skill 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17538-52D8-441D-9D60-B189E6FB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1638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77657-0560-451B-8E35-6B896A09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2D35C-87F6-4621-9491-1931FFA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Plan 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136B9-1F2A-4468-AEBB-A3624699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08434-2014-4E8C-BBA6-4BCA553A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98946-7AB9-4B6C-80F1-4CE86A0D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Operational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F1AB3-A11D-415D-BF17-3D4C1FF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AgentRun + AgentRunEvent store input, output, status, workflow projection, observability, and child-run lineage.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B9245-F100-41A7-9171-73774482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C67F6-E932-4F50-89CF-AC26A2A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76432-9358-484A-851B-C37060C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76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Product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EC097-EEEB-4415-AD3B-B54CE2E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Jobs, profiles, applications, generated materials, conversations, outcomes, and quality examples remain queryable.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5E790-D17B-462F-A85C-DFAC2822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5899D-242D-46E1-B902-9001DCC2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2E09D4-5975-4A55-85CA-142ACA06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Architecture 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C2D2A-7ED6-4938-AEB4-2AF28159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README, wiki, skills, and plans are scanned by the System Architecture agent and reused as evidence.</a:t>
            </a:r>
          </a:p>
        </p:txBody>
      </p:sp>
    </p:spTree>
    <p:extLst>
      <p:ext uri="{BB962C8B-B14F-4D97-AF65-F5344CB8AC3E}">
        <p14:creationId xmlns:p14="http://schemas.microsoft.com/office/powerpoint/2010/main" val="965287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C1667-EB56-416A-A4D6-0F35141D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45018-C915-4CF0-A02B-2EED0608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Runtime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41254-C9F1-4745-9DB4-6E241AD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The app does not collapse every workflow into one runtime; it chooses the runtime by durability and control needs.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4F947-CEAC-4027-9580-FB613C72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F6114-18E7-4B29-9420-CD70C1CB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B9019-6124-4A62-B9BA-9483C5FE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527E9-EF84-4BF5-A2A2-16CBECE3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1432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A5A37-7412-4BA3-AD9B-0239F20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C634C-4B16-4D49-B07D-016B2A7E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669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Deterministic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724DE-C131-4DFA-B8E6-72C5F481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09850"/>
            <a:ext cx="28003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Typed functions for synchronous analysis, scoring, drafting, retrieval, and repair. Easier to test and reason about.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07391-BC99-4CA7-85B0-BE7495BE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8BF17-5591-47E9-B1B1-339194C8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BBD5C-5553-445E-936A-6B4B478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ADK control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A097F-C5F7-4ACB-B2F8-0FCA33AE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09850"/>
            <a:ext cx="28003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Opt-in supervision for low-risk agents such as Daily Command Center, Market Intelligence, and Jolene app-operator tools.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9094C-F0F3-4662-8C59-2F577D3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69F02-2A62-45CD-B731-0FEA688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F0FEC-7A66-46F6-A1B4-E13905DC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669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LangGraph state machines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BE87D-5691-46A0-8F03-9E9232C8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09850"/>
            <a:ext cx="28003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Reserved for durable browser and recruiting-agency workflows that need checkpoint, resume, repair, retry, or cancel.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57625" y="3295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67625" y="3295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CE734-A78F-4367-928D-E0F1A42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F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9D1-2CBC-4E30-9462-0C309853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72075"/>
            <a:ext cx="396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A43"/>
                </a:solidFill>
              </a:defRPr>
            </a:pPr>
            <a:r>
              <a:rPr sz="975" b="1">
                <a:solidFill>
                  <a:srgbClr val="0F2A43"/>
                </a:solidFill>
              </a:rPr>
              <a:t>Shared observability: AgentRun + AgentRunEvent</a:t>
            </a:r>
          </a:p>
        </p:txBody>
      </p:sp>
    </p:spTree>
    <p:extLst>
      <p:ext uri="{BB962C8B-B14F-4D97-AF65-F5344CB8AC3E}">
        <p14:creationId xmlns:p14="http://schemas.microsoft.com/office/powerpoint/2010/main" val="233950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37BA51-D285-4253-B496-F8A9DE24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C0821-FEA6-4781-961D-F340930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Job discovery to Apply Sprint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96802-5030-44D1-BC8F-32E77018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Search is a gated improvement loop: broad discovery narrows into scored, deduped, prepared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FF50F-B7A6-479D-82A3-7771C4E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370DF-2F9A-4E80-8474-706E59EE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AC898-3FBB-4C7F-AEC2-E41D6B8C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F2E6C-F844-4358-90C1-C0988031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9C4BC-74CF-4BAC-BECE-6EA3580C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DD1EC-3273-460A-80AE-D16ABBE3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Search profiles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02905-56FA-4F08-8202-7419A3B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roles, locations,</a:t>
            </a:r>
          </a:p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keywords, exclusions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56CCA-D555-4934-B77F-5447FC8D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396CF-0315-4F5A-9AA8-38538217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AD327-0AAA-4D17-9870-CDFA79C1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Search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D3542-FA3C-46FB-9643-210B4387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fetch + normalize</a:t>
            </a:r>
          </a:p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source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1F1F1-E016-4F14-BDF8-CBAC05EE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68A08-0A80-4DE1-9174-42030DA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E910C-E2F0-42A6-A24E-E3B57DB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Dedupe +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06E8B-4FF8-449C-AF65-119D2027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stale/duplicate</a:t>
            </a:r>
          </a:p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fit scoring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A7355-A6EA-44CD-B253-08A8BB49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1374B-14CD-4FF2-B3AA-595A431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74C8B-E888-47CD-AFFA-E9BE6E3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Agency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82D81-737C-4BDE-882E-16E1743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eligible high-fit</a:t>
            </a:r>
          </a:p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packet prep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FFB74-31B8-4C84-9703-5EF2C150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E5413-89C6-4197-A74A-7F97E00F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09638-CF75-4E32-BF4B-9CA95AEF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Apply Sprint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3DE0A-AE7C-457D-861D-E266FE60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90850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manual launch</a:t>
            </a:r>
          </a:p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and submit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4315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2915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cxnSp>
        <p:nvCxnSpPr>
          <p:cNvPr id="7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1515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cxnSp>
        <p:nvCxnSpPr>
          <p:cNvPr id="72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0115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51CD4E-6396-4644-929F-43E82AF8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</a:defRPr>
            </a:pPr>
            <a:r>
              <a:rPr sz="202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9E04F6-5A98-4E36-9A0A-8FA938D5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</a:defRPr>
            </a:pPr>
            <a:r>
              <a:rPr sz="202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80895D-FAFC-40E4-897C-FBB5B620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</a:defRPr>
            </a:pPr>
            <a:r>
              <a:rPr sz="202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567434-A27D-4C27-899E-D89015D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</a:defRPr>
            </a:pPr>
            <a:r>
              <a:rPr sz="202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C07464-2DE4-4150-ADA0-3E199709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4095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53E692-00CB-40AE-A119-B897200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93BD5-BD5B-4958-BE7A-C3CCD16F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339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Pause conditions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76BB49-D324-4480-886A-DC89ACD3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768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The loop pauses when jobs still need review or prepared applications still need Apply Sprint work.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A7C92D-DE17-44BF-98FA-9C2BB8B1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095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FEFA44-2292-41F6-A614-B99B68E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C1FA28-96A9-41C8-B679-29D2662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Manual boundary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5A0089-A02E-4429-A970-6348246A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768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Application submission and employer interaction remain manual or explicitly confirmed.</a:t>
            </a:r>
          </a:p>
        </p:txBody>
      </p:sp>
    </p:spTree>
    <p:extLst>
      <p:ext uri="{BB962C8B-B14F-4D97-AF65-F5344CB8AC3E}">
        <p14:creationId xmlns:p14="http://schemas.microsoft.com/office/powerpoint/2010/main" val="130534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013CF-2CC6-41FB-BF12-B4AF5FFD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DBBCB-C4BB-4768-9775-2098D89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Jolene operating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FF982-FD4E-451C-9735-9E58BEA0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Jolene is the app-aware assistant and Chief of Staff layer across the UI and Slack, but execution remains governed.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218C-5BA1-4371-8C24-6325AA4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E7CF6-CB93-4F42-9CA5-C8F849C3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61077-2548-4EFC-B677-2E145ABE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4C99C-A58A-449E-97AF-A41ABBE4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069B7-2DE5-4277-8A75-4929D75D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2434-D3CE-4669-9680-64B03764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Read-only app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E0F34-F485-462D-BC50-17BCD40C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Classifies natural language into app domains and answers from Prisma state before generic coaching.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54889-7521-4360-8D74-FC23D5D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CF31C-9335-4B06-838C-AEF09AC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92E59-967E-4F19-A986-87FE7FFD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669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Safe internal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38385-B1FC-4F5B-9C42-47A252ED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985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Can run search, duplicate checks, Email Ops, Daily Command Center, Market Intelligence, and approved operating loops.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5FDA7-E454-4A04-BEB7-66CC27CC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B948E-CF56-4A89-A5CA-6B5576C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9BF82-8CE0-4A46-BFD9-A17CEE12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Guarded / external 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C9E0F-0E90-4212-83DB-00BE1DD0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Submissions, email sends, LinkedIn publishing, employer contact, calendars, and broad destructive changes stay gated.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46D6D-CCEE-4C39-B721-E6C4054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35777-F1CC-419D-8B6C-1C300332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910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Slack Jolene channel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A329E-C895-448B-BEB4-287EB30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13F04-B3AC-4233-9309-5D60C3B3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910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In-app drawer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24F4C-6E0D-43AB-BF65-1E3C381C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6C24A7-9F62-456E-B2D4-75EA4EFE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910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</a:defRPr>
            </a:pPr>
            <a:r>
              <a:rPr sz="975" b="1">
                <a:solidFill>
                  <a:srgbClr val="059669"/>
                </a:solidFill>
              </a:rPr>
              <a:t>Chief of Staff brief</a:t>
            </a:r>
          </a:p>
        </p:txBody>
      </p:sp>
      <p:cxnSp>
        <p:nvCxnSpPr>
          <p:cNvPr id="52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905250" y="4676775"/>
            <a:ext cx="3714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</a:ln>
        </p:spPr>
      </p:cxn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762750" y="46767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FA310-2CA8-4824-AF12-10C321C3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A43"/>
                </a:solidFill>
              </a:defRPr>
            </a:pPr>
            <a:r>
              <a:rPr sz="1350" b="1">
                <a:solidFill>
                  <a:srgbClr val="0F2A43"/>
                </a:solidFill>
              </a:rPr>
              <a:t>Same persistence: JoleneConversation, JoleneMessage, AgentRun/Event, NotificationLog.</a:t>
            </a:r>
          </a:p>
        </p:txBody>
      </p:sp>
    </p:spTree>
    <p:extLst>
      <p:ext uri="{BB962C8B-B14F-4D97-AF65-F5344CB8AC3E}">
        <p14:creationId xmlns:p14="http://schemas.microsoft.com/office/powerpoint/2010/main" val="242653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E6CD72-BFB3-493C-AC96-77762D0D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9C0AF-49B2-49F7-88FA-BFE3D1BA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LangGraph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5A495-FB7E-43E7-9A4C-4DFE2E01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LangGraph is used where state-machine durability matters: browser automation and recruiting-agency handoffs.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440A8-23F3-473A-A736-06897469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4CC86-199B-4052-B7DD-C65B5B37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39ABE-A5D8-4536-8162-901E71BF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28755-E93A-446F-B03A-E79CF409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C9A1B-ADEF-47E3-B62D-0035176C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203BB-0B17-48B3-8B30-C3B204DE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Application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18855-C369-49A1-B04E-4C476B89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57475"/>
            <a:ext cx="44196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Validates the application package, launches Playwright, inspects fields, issues fill commands, learns unknown fields, and stops before final submit.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296B4-D6CD-4482-978A-972F8BD0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43125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0DF8E-5EDC-4178-9127-9421CC75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4312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DC021-4E55-405D-9932-00866901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Recruiting agency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AC399-B698-49D9-AE6A-6F4939D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57475"/>
            <a:ext cx="44196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Creates durable AgentRun thread, evaluates eligible matches, approves candidates, prepares packets, emits events, and finalizes results.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53D81-854A-4CEA-84CA-9855F3FD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DE95F-61BC-4A0C-85D1-6B0C4DB5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720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</a:defRPr>
            </a:pPr>
            <a:r>
              <a:rPr sz="975" b="1">
                <a:solidFill>
                  <a:srgbClr val="059669"/>
                </a:solidFill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DDE7A-EAE8-46CF-9DCD-86EA181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77299-05A8-46A8-9224-389F215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720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</a:defRPr>
            </a:pPr>
            <a:r>
              <a:rPr sz="975" b="1">
                <a:solidFill>
                  <a:srgbClr val="059669"/>
                </a:solidFill>
              </a:rPr>
              <a:t>Resume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BF4A3-317C-4028-88CA-38CD5A1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22D4F-1C49-42A9-8E4D-CAA116E6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720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BEEB3-B011-4E0D-B212-1EF4315E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95875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7D9DE-6D19-4767-9AF4-D24368BF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720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Retry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A578D-C7B2-45E7-A4E0-46967C2A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95875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CBA00-19EA-462E-A226-7301331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720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1509570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78157-3D4C-4D56-B041-3CEF8EC3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4553B-DA9C-41FB-A8CA-C56B7D5E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Quality and 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2D20A-1C99-4DB0-BEEB-E4C91112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Mistakes become structured evidence, evaluations, proposals, and bounded skill adjustments.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4BCC1-0317-4DBB-9188-21A3A935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4DF91-B411-469D-9339-D2F8CA61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0283C-3A5C-4196-811B-8444078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DDE70-1CB0-478A-88C2-408D4CCA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866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1E103-E525-4BC2-8E79-FA4D11BD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A8A6C-B949-47FA-9884-15F90EDB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Failure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BC2EC-6745-4517-8D7F-AA53267A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52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assistant failure, rejected match,</a:t>
            </a:r>
          </a:p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noisy search, material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ADD81-A893-4EC8-82D5-E86B6A4C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81250"/>
            <a:ext cx="1866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60CB9-8898-4646-BFCE-F6B1AE27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81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30424-3316-412A-9529-00A6E7CD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Quality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3BD95-7734-4678-B737-94EF6B79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152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redacted case stored</a:t>
            </a:r>
          </a:p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for deterministic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4B8B0-1915-483D-928C-BEA5704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1866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E9110-2CE3-4F92-B5FE-4BCA3FE1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F13F8-F036-4703-83C7-8F5B97E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CE3E6-84F1-4F83-8B6B-EB3B2A71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95600"/>
            <a:ext cx="152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score, cluster,</a:t>
            </a:r>
          </a:p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review-only recommendation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C8473-EAC2-48D2-8B0B-B4BA0213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1866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E86AB-38DE-497F-9E32-04045C5A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8DE78-5A8F-4962-906C-2F125A9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Skill adjustment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93EDC-CB2D-4273-B146-EAB2E12D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152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low-risk bounded rule</a:t>
            </a:r>
          </a:p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or human-dismissed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D74F5-3EAC-4904-B720-4CD3E75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866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DC606-5862-40A1-BEE2-7E0DC64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1BF5E-192C-4569-9F9F-0E0BF26E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52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Rollback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986E5-9DC2-474B-B5A8-98FF91C3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95600"/>
            <a:ext cx="152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learning impact board</a:t>
            </a:r>
          </a:p>
          <a:p xmlns:a="http://schemas.openxmlformats.org/drawingml/2006/main">
            <a:pPr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and conservative rollback</a:t>
            </a:r>
          </a:p>
        </p:txBody>
      </p:sp>
      <p:cxnSp>
        <p:nvCxnSpPr>
          <p:cNvPr id="6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43150" y="3190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cxnSp>
        <p:nvCxnSpPr>
          <p:cNvPr id="6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10100" y="3190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cxnSp>
        <p:nvCxnSpPr>
          <p:cNvPr id="6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77050" y="3190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cxnSp>
        <p:nvCxnSpPr>
          <p:cNvPr id="65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144000" y="31908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097A6E-04DF-45E5-80A3-DC3DFA2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4748B"/>
                </a:solidFill>
              </a:defRPr>
            </a:pPr>
            <a:r>
              <a:rPr sz="187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16ECBB-44C0-4C93-8F0D-DD96A06D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4748B"/>
                </a:solidFill>
              </a:defRPr>
            </a:pPr>
            <a:r>
              <a:rPr sz="187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59B6AD-D8FE-4404-A41A-14BDD2F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4748B"/>
                </a:solidFill>
              </a:defRPr>
            </a:pPr>
            <a:r>
              <a:rPr sz="187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14FB82-0430-4D9E-83B3-AADA8148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194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4748B"/>
                </a:solidFill>
              </a:defRPr>
            </a:pPr>
            <a:r>
              <a:rPr sz="1875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FDF10F-A853-41B6-AA10-2A7E07E6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A43"/>
                </a:solidFill>
              </a:defRPr>
            </a:pPr>
            <a:r>
              <a:rPr sz="1650" b="1">
                <a:solidFill>
                  <a:srgbClr val="0F2A43"/>
                </a:solidFill>
              </a:rPr>
              <a:t>Supported targets include application assistant, recruiting agency, job search, job matching, and generated materials.</a:t>
            </a:r>
          </a:p>
        </p:txBody>
      </p:sp>
    </p:spTree>
    <p:extLst>
      <p:ext uri="{BB962C8B-B14F-4D97-AF65-F5344CB8AC3E}">
        <p14:creationId xmlns:p14="http://schemas.microsoft.com/office/powerpoint/2010/main" val="3673955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6F426-277F-4F0D-B617-A9AAB245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6E3F3-153F-4F73-8A61-9545576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External integrations and safety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6BECE-5046-4C44-A13A-DE87EA85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External systems are useful surfaces, but not unchecked authority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61B4-DECE-49D7-A92C-A18D9036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298AC-D395-4FDF-8A99-9E823DC2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7A16E-2A95-4405-A325-49A8A96F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B17E0-7076-45EF-98F0-CB8BF8F5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Slack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78BDB-99D1-487B-9869-E12F4983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09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Ops room, Jolene prompts, approvals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79CF0-B933-43E0-946B-06026955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Allowlisted internal work; no source of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6C216-A927-495E-887D-9B774C73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A443F-DE2A-4278-906B-02AAAEDD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B1627-46FF-471C-BCE7-452B301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95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Inbox sync, findings, outcome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0AB7A-CAC3-42A3-B165-E075F4E7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Drafts and ambiguous actions require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AF7F1-A7DE-4B54-8882-032428D5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65126-E95E-4553-BA9A-202C0E3E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LinkedIn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5E97F-FF71-4351-8A57-11C4B0BD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Drafts, analytics, approved publish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75503-CF17-4950-9474-6914D4A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81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No unreviewed publishing or private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03A26-BE0E-486D-8216-5576AE72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2F5A5-DC66-412F-B1A3-FED0B6E6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Browser + Playwright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15AAF-5373-4223-9643-30A9DCA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67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Form fill support and field observation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150DD-8B5F-46E5-B765-29EF9840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Stops before final submit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19C2A-CCF0-4116-A401-11C258B1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154C8-F235-41C2-B6A7-491082CF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OpenAI helpers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20A82-ED99-4836-847C-B97063A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53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Generation, scoring, reasoning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E7CBB-64EA-48D2-BC25-85721A9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Fallbacks and provenance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4567E-C030-467E-B838-0A684376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E1687-A878-47B5-8CC9-6807EF02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912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C2626"/>
                </a:solidFill>
              </a:defRPr>
            </a:pPr>
            <a:r>
              <a:rPr sz="1725" b="1">
                <a:solidFill>
                  <a:srgbClr val="DC2626"/>
                </a:solidFill>
              </a:rPr>
              <a:t>Rule: external writes are blocked, draft-only, or approval-gated.</a:t>
            </a:r>
          </a:p>
        </p:txBody>
      </p:sp>
    </p:spTree>
    <p:extLst>
      <p:ext uri="{BB962C8B-B14F-4D97-AF65-F5344CB8AC3E}">
        <p14:creationId xmlns:p14="http://schemas.microsoft.com/office/powerpoint/2010/main" val="1251741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6D638-6BF4-4CCD-92A3-F0A95F05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JOB SEARCH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2FB5A-E97B-488D-94C4-F78180D9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Risks and operating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597D-C222-44F7-83F4-56699A9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The architecture report is also a maintenance mechanism: it shows what needs documentation and policy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DA6E2-6957-4A0E-A2D7-FED30AB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9ED13-DF01-4C34-AA8B-F9EA238E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Repo evidence: README, wiki/Agents-and-Workflows.md, Prisma schema, route inventory, System Architecture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292D7-BEDA-4427-B9F5-F245CBA3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B4C8F-9D43-4762-B3EA-D88079B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8C765-FB51-4CF8-806A-B4D7F9E6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38E8B-1646-4540-8C32-6BC576D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Current architecture risks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53CD2-1521-4A16-972B-E848409F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41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High: 6 agent types lack code-first skill policy coverage.</a:t>
            </a:r>
          </a:p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Medium: 8 high-impact API routes need clearer architecture documentation.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1C5B2-3818-47D2-8D2B-229667D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095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DEFE2-1A8B-4676-A132-C335D6B4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7EB21-AB25-4FCB-958E-3CA7D8A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Current evidence 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CF893-E549-48C1-9302-A8ED7CB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3752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38 app routes, 171 API routes, 40 agent types, 65 Prisma models, 42 skill IDs.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BEBE5-25AA-4960-9493-5397464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19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C9A5B-48E9-4CED-9F9B-CC2AFC38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E220F-8730-46A7-A20C-4E4EB2C9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984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Operating principles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40C61-7473-432A-AC7C-B4C6955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984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Keep AgentRun/Event as the workflow spine. Refresh the architecture report after agent, Prisma, or workflow releases. Require owner and approval-boundary notes for high-impact APIs. Keep LangGraph for durable browser/agency state; keep deterministic services for synchronous analysis.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4B13F-8FA1-481A-BA4C-0B377D21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02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2A43"/>
                </a:solidFill>
              </a:defRPr>
            </a:pPr>
            <a:r>
              <a:rPr sz="2025" b="1">
                <a:solidFill>
                  <a:srgbClr val="0F2A43"/>
                </a:solidFill>
              </a:rPr>
              <a:t>The system should stay legible as it grows.</a:t>
            </a:r>
          </a:p>
        </p:txBody>
      </p:sp>
    </p:spTree>
    <p:extLst>
      <p:ext uri="{BB962C8B-B14F-4D97-AF65-F5344CB8AC3E}">
        <p14:creationId xmlns:p14="http://schemas.microsoft.com/office/powerpoint/2010/main" val="613048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2026-06-22T17:08:31.4850000Z</dcterms:created>
  <dcterms:modified xsi:type="dcterms:W3CDTF">2026-06-22T17:08:31.4850000Z</dcterms:modified>
</coreProperties>
</file>